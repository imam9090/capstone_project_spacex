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20068-6F91-7CCE-9F9D-2A7A3141DE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22CB62-1DC8-40F5-AF90-C2DFE1E213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E757C-5DD5-0520-B228-F1D086E7E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33419-FD00-42FE-9908-F43FA658253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EB9A2-8831-EB46-6862-BD1E25CA2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D22B0-AD7D-0498-4D2B-1AFEBB750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B0D36-3A92-4FC7-8759-31F579DC9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81773-CBF9-6F91-C04D-B4F2C4104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D71E5-D979-9ECD-DB45-6D36A1B05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F4FF7-509E-91D1-3F48-038FE3CB8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33419-FD00-42FE-9908-F43FA658253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5F94D-2C4E-4FFB-9F03-922CB4C0F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58841-9763-8F0F-8390-0B43DEC52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B0D36-3A92-4FC7-8759-31F579DC9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304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D5172-5422-4B10-0625-EC8FDFBE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E5C32-51A6-E8A4-5551-CBFD4B472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70E3E-1254-C873-973F-9D9991BC5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33419-FD00-42FE-9908-F43FA658253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4E7FA-D146-A020-7F00-2608A4493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E4E70-89E6-1B0A-9BE8-DCA9DBAAB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B0D36-3A92-4FC7-8759-31F579DC9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215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FACDB-B851-A8E5-616A-967C4B815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6A423-1678-6ABD-A5E5-4853C8E5E7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3E7EED-525F-C4A6-468F-0E84FF2D2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E07B0-75AB-250C-F5BB-DF39B6DE5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33419-FD00-42FE-9908-F43FA658253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A37A2-C5C5-09F8-FF7A-853DA487D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608EB-1816-E0D8-F1B9-818C259AA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B0D36-3A92-4FC7-8759-31F579DC9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829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6DBB6-1A0F-2B2F-1B05-4D32ABFF3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FABEC-6669-5C98-4935-C61B59E6A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1892B-C994-030B-48C0-16474EFD2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041C9-7EA3-4772-13FF-63F81D7A57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6D2EA2-DA60-91AE-4314-4D0A9333FE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1CEF3C-DB17-D6CB-4691-F4776B564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33419-FD00-42FE-9908-F43FA658253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E98255-C941-3B52-3CB8-FBFF039EA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1A03C4-A52B-A89D-E9A5-AFEA2A9FE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B0D36-3A92-4FC7-8759-31F579DC9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36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9EC8B-E441-480B-DA13-A94FEB46C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EE5E32-9207-3A23-BB07-60DB3EBB2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33419-FD00-42FE-9908-F43FA658253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B05B2-D336-5701-6994-F255FECA5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B20BC2-EAD8-B518-BAB7-16BB02B37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B0D36-3A92-4FC7-8759-31F579DC9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72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E2F75E-FB60-6BD0-8F3B-7E84C9D45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33419-FD00-42FE-9908-F43FA658253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AC5DEA-D39B-7E22-C220-A745D3343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FB0A7-223E-51DB-90ED-485DEBB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B0D36-3A92-4FC7-8759-31F579DC9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752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B7BCC-8F3D-95BD-F1D9-9F6340E1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5E0A2-7DD3-961D-77A2-5D56C316A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8A076-5D7B-935A-24D6-A3AB13606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FD60B-4CFC-C150-7044-C6AB83925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33419-FD00-42FE-9908-F43FA658253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65A7F-1581-058A-8B7F-C4CEF88B5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F29EE-EE6E-7378-2BAE-0DEB43B7A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B0D36-3A92-4FC7-8759-31F579DC9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520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C6416-B550-D2A2-6063-05A339354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39DE93-D9A2-A502-C67A-FED3294292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18A09-739F-6313-07C1-3642A7693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175DB-761E-7767-CC4B-5EF263CB5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33419-FD00-42FE-9908-F43FA658253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8F373A-4C7F-94D4-61D8-CEEE0B383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CE83A-DBD5-86EE-11BF-883FF935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B0D36-3A92-4FC7-8759-31F579DC9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239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2652B-1B85-5C14-1D51-E3D61048F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428A9B-CAEB-19D7-0547-DD3DB1ECE1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F1B63-E105-240E-A402-F871DE270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33419-FD00-42FE-9908-F43FA658253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00B22-FC0F-FBFC-214D-21950F3E1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D80BC-F8AC-BA35-3FF9-DCF857476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B0D36-3A92-4FC7-8759-31F579DC9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89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B2C02E-EB57-50D5-37F2-067C9C4FC6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5D8C5-37AF-1DEE-8421-8A45D7C56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65B88B-08EC-C6A5-A32A-70AFAEA3A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33419-FD00-42FE-9908-F43FA658253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326B1-3122-A782-D48A-903A6BC17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4525D-6AA4-1E95-A7AB-5A8A74D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B0D36-3A92-4FC7-8759-31F579DC9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384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36AA7B-08BB-878D-5DDE-FED9BE24C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AB50E7-05FD-D7C0-07FB-03BE5D8A1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2CB0D-6319-E25C-82ED-6D0D929E0E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733419-FD00-42FE-9908-F43FA658253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18935-C354-F767-A5B0-6F425C953A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A51A2-5DA4-5643-1E29-135D418D9B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3B0D36-3A92-4FC7-8759-31F579DC97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464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E8DB2-8C86-BF08-E180-A658D10A9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047" y="1122362"/>
            <a:ext cx="11779623" cy="3279309"/>
          </a:xfrm>
        </p:spPr>
        <p:txBody>
          <a:bodyPr>
            <a:norm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Judul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SpaceX Falcon 9 First Stage Landing Prediction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Nama: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Imam Bagus Pratama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URL: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https://github.com/imam9090/Capstone_Project_SpaceX.git</a:t>
            </a:r>
          </a:p>
        </p:txBody>
      </p:sp>
    </p:spTree>
    <p:extLst>
      <p:ext uri="{BB962C8B-B14F-4D97-AF65-F5344CB8AC3E}">
        <p14:creationId xmlns:p14="http://schemas.microsoft.com/office/powerpoint/2010/main" val="2894724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2E52-13DA-47C3-64FC-B1338E0A5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1712686"/>
            <a:ext cx="11442700" cy="4263571"/>
          </a:xfrm>
        </p:spPr>
        <p:txBody>
          <a:bodyPr>
            <a:normAutofit fontScale="90000"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Masalah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SpaceX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menghemat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biaya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kembali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roket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Memprediksi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keberhasilan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pendaratan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sangat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krusial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menentukan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harga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peluncuran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Metodologi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dikumpulkan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via API &amp; Web Scraping,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diolah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 &amp; Pandas,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divisualisasikan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Folium &amp;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Dash, dan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diklasifikasi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 Learning.</a:t>
            </a:r>
            <a:b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Hasil: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memberikan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akurasi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tertinggi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(~83%). Faktor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keberhasilan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lokasi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peluncuran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massa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muatan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(payload mass).</a:t>
            </a:r>
            <a:b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https://github.com/imam9090/Capstone_Project_SpaceX.git</a:t>
            </a:r>
            <a:endParaRPr lang="en-US" sz="32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FDB106A-1330-D814-CDCE-361C4D1CB682}"/>
              </a:ext>
            </a:extLst>
          </p:cNvPr>
          <p:cNvSpPr txBox="1">
            <a:spLocks/>
          </p:cNvSpPr>
          <p:nvPr/>
        </p:nvSpPr>
        <p:spPr>
          <a:xfrm>
            <a:off x="508000" y="522514"/>
            <a:ext cx="4557486" cy="7547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sz="3200" dirty="0"/>
              <a:t>Executive Summary</a:t>
            </a:r>
          </a:p>
        </p:txBody>
      </p:sp>
    </p:spTree>
    <p:extLst>
      <p:ext uri="{BB962C8B-B14F-4D97-AF65-F5344CB8AC3E}">
        <p14:creationId xmlns:p14="http://schemas.microsoft.com/office/powerpoint/2010/main" val="372775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B1EEFCDF-5795-BC90-BD39-BF0E410814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11842" y="2151727"/>
            <a:ext cx="1087482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Latar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Belakang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SpaceX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menawarkan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harga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$62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juta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peluncuran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jauh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bawah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pesaing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($165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juta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Tujuan: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Membangun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klasifikasi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memprediksi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apakah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tahap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pertama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roket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mendarat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sukses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https://github.com/imam9090/Capstone_Project_SpaceX.git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5BD096C-D0BE-42A2-FAE3-C72AE0110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842" y="1321790"/>
            <a:ext cx="1087482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sz="3200" dirty="0"/>
              <a:t>Introduction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966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78AAF0AD-498D-BC90-D13E-CB2F2CF7EF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6551" y="1504691"/>
            <a:ext cx="10828296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Mengambil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peluncuran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API SpaceX (Rocket, Payload, Launchpad,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dll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Scraping: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Mengambil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tambahan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tabel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Wikipedia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Wrangling: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Menangani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nilai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mengubah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kolom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format yang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benar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kolom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target Class (1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sukses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0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gagal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https://github.com/imam9090/Capstone_Project_SpaceX.git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610B1A3-D6C9-EC93-DCBF-D73321F43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551" y="584659"/>
            <a:ext cx="118054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sz="3200" dirty="0"/>
              <a:t>Data Collection &amp; Wrangling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56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8ED2-B119-E7D6-0A4F-1A1FE8B29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0F8C2D9E-FBCE-34DB-3A9D-16C5D1B40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551" y="889459"/>
            <a:ext cx="118054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sz="3200" dirty="0"/>
              <a:t>EDA &amp; Visualization Methodology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A0AC5C9-2D90-1E7A-F48B-B459BC22B0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6551" y="1926303"/>
            <a:ext cx="1128474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Metode: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Menggunakan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Pandas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untuk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manipulasi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dan Matplotlib/Seaborn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untuk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visualisasi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Tujuan: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Mencari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hubungan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antara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massa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muatan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orbit, dan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tingkat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keberhasilan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https://github.com/imam9090/Capstone_Project_SpaceX.git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65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B8118-6CF4-1032-1152-F20E7B6CC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81DC6382-B287-3CCB-8FF8-0F67874A0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551" y="889459"/>
            <a:ext cx="118054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sz="3200" dirty="0"/>
              <a:t>EDA with SQL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9EFBF2-AB97-337D-626C-54E08431E1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6551" y="1936668"/>
            <a:ext cx="9659937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DISTINCT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Launch_Site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FROM SPACEXTBL;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SUM(PAYLOAD_MASS__KG_) FROM SPACEXTBL WHERE Customer = 'NASA (CRS)';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Hasil: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Mengidentifikasi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total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muatan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situs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peluncuran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https://github.com/imam9090/Capstone_Project_SpaceX.git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369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BD03C-C3F8-E735-0972-7B68B1F9C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2F038B7C-4763-56C6-D513-B64A20054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551" y="889459"/>
            <a:ext cx="118054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sz="3200" dirty="0"/>
              <a:t>EDA with Visualization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7FD7C1-2ADF-452A-52CB-57C7050F2F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13551" y="1413064"/>
            <a:ext cx="9659937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DISTINCT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Launch_Site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FROM SPACEXTBL;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SUM(PAYLOAD_MASS__KG_) FROM SPACEXTBL WHERE Customer = 'NASA (CRS)';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Hasil: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Mengidentifikasi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total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muatan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situs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peluncuran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https://github.com/imam9090/Capstone_Project_SpaceX.git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014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1A70E-869E-82D0-67AB-0B25F4AD8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AC010-749E-187C-F4A4-6DEC414A68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13551" y="1413064"/>
            <a:ext cx="9659937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DISTINCT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Launch_Site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FROM SPACEXTBL;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SUM(PAYLOAD_MASS__KG_) FROM SPACEXTBL WHERE Customer = 'NASA (CRS)';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Hasil: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Mengidentifikasi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total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muatan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situs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peluncuran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https://github.com/imam9090/Capstone_Project_SpaceX.git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071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25286-AB69-90A4-E5AF-CA54E4211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AF869DA1-3CD2-C2BD-8AA2-D29C56FCA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551" y="944323"/>
            <a:ext cx="118054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sz="3200" dirty="0"/>
              <a:t>Interactive Maps with Folium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273E6E7-B543-9826-9D95-EBE5ED4807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97605" y="1882783"/>
            <a:ext cx="982844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Sertakan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screenshot </a:t>
            </a:r>
            <a:r>
              <a:rPr kumimoji="0" lang="en-US" altLang="en-US" sz="2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peta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Folium </a:t>
            </a:r>
            <a:r>
              <a:rPr kumimoji="0" lang="en-US" altLang="en-US" sz="2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kamu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Analisis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Menandai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lokasi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peluncuran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(KSC LC-39A, VAFB SLC-4E, CCSFS SLC-40).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Temuan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Menghitung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jarak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lokasi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peluncuran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garis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pantai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atau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jalan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raya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terdekat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https://github.com/imam9090/Capstone_Project_SpaceX.git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705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A1B15-C33A-5485-DD8B-23F5ED0E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Interactive Visual Analysis</a:t>
            </a:r>
            <a:br>
              <a:rPr lang="en-US" sz="2400" dirty="0"/>
            </a:br>
            <a:r>
              <a:rPr lang="en-US" sz="2400" dirty="0" err="1"/>
              <a:t>Judul</a:t>
            </a:r>
            <a:r>
              <a:rPr lang="en-US" sz="2400" dirty="0"/>
              <a:t> Slide: Interactive Visual Analysis with Folium and </a:t>
            </a:r>
            <a:r>
              <a:rPr lang="en-US" sz="2400" dirty="0" err="1"/>
              <a:t>Plotly</a:t>
            </a:r>
            <a:r>
              <a:rPr lang="en-US" sz="2400" dirty="0"/>
              <a:t> Dash</a:t>
            </a:r>
            <a:br>
              <a:rPr lang="en-US" sz="2400" dirty="0"/>
            </a:br>
            <a:r>
              <a:rPr lang="en-US" sz="2400" dirty="0"/>
              <a:t>GitHub URL: https://github.com/imam9090/Capstone_Project_SpaceX.git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A7AEB-6EFB-E361-0E08-DC081EECD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1. Interactive Maps (Folium):</a:t>
            </a:r>
          </a:p>
          <a:p>
            <a:pPr marL="0" indent="0">
              <a:buNone/>
            </a:pPr>
            <a:r>
              <a:rPr lang="en-US" dirty="0" err="1"/>
              <a:t>Penanda</a:t>
            </a:r>
            <a:r>
              <a:rPr lang="en-US" dirty="0"/>
              <a:t> Lokasi: Menampilkan </a:t>
            </a:r>
            <a:r>
              <a:rPr lang="en-US" dirty="0" err="1"/>
              <a:t>koordinat</a:t>
            </a:r>
            <a:r>
              <a:rPr lang="en-US" dirty="0"/>
              <a:t> </a:t>
            </a:r>
            <a:r>
              <a:rPr lang="en-US" dirty="0" err="1"/>
              <a:t>geografis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situs </a:t>
            </a:r>
            <a:r>
              <a:rPr lang="en-US" dirty="0" err="1"/>
              <a:t>peluncuran</a:t>
            </a:r>
            <a:r>
              <a:rPr lang="en-US" dirty="0"/>
              <a:t> </a:t>
            </a:r>
            <a:r>
              <a:rPr lang="en-US" dirty="0" err="1"/>
              <a:t>utama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KSC LC-39A, VAFB SLC-4E, dan CCSFS SLC-40.</a:t>
            </a:r>
          </a:p>
          <a:p>
            <a:pPr marL="0" indent="0">
              <a:buNone/>
            </a:pPr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Kedekatan</a:t>
            </a:r>
            <a:r>
              <a:rPr lang="en-US" dirty="0"/>
              <a:t>: </a:t>
            </a:r>
            <a:r>
              <a:rPr lang="en-US" dirty="0" err="1"/>
              <a:t>Menghitung</a:t>
            </a:r>
            <a:r>
              <a:rPr lang="en-US" dirty="0"/>
              <a:t> </a:t>
            </a:r>
            <a:r>
              <a:rPr lang="en-US" dirty="0" err="1"/>
              <a:t>jarak</a:t>
            </a:r>
            <a:r>
              <a:rPr lang="en-US" dirty="0"/>
              <a:t> visual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lokasi</a:t>
            </a:r>
            <a:r>
              <a:rPr lang="en-US" dirty="0"/>
              <a:t> </a:t>
            </a:r>
            <a:r>
              <a:rPr lang="en-US" dirty="0" err="1"/>
              <a:t>peluncuran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infrastruktur</a:t>
            </a:r>
            <a:r>
              <a:rPr lang="en-US" dirty="0"/>
              <a:t> </a:t>
            </a:r>
            <a:r>
              <a:rPr lang="en-US" dirty="0" err="1"/>
              <a:t>penting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garis </a:t>
            </a:r>
            <a:r>
              <a:rPr lang="en-US" dirty="0" err="1"/>
              <a:t>pantai</a:t>
            </a:r>
            <a:r>
              <a:rPr lang="en-US" dirty="0"/>
              <a:t>, </a:t>
            </a:r>
            <a:r>
              <a:rPr lang="en-US" dirty="0" err="1"/>
              <a:t>jalan</a:t>
            </a:r>
            <a:r>
              <a:rPr lang="en-US" dirty="0"/>
              <a:t> </a:t>
            </a:r>
            <a:r>
              <a:rPr lang="en-US" dirty="0" err="1"/>
              <a:t>raya</a:t>
            </a:r>
            <a:r>
              <a:rPr lang="en-US" dirty="0"/>
              <a:t>, dan </a:t>
            </a:r>
            <a:r>
              <a:rPr lang="en-US" dirty="0" err="1"/>
              <a:t>rel</a:t>
            </a:r>
            <a:r>
              <a:rPr lang="en-US" dirty="0"/>
              <a:t> </a:t>
            </a:r>
            <a:r>
              <a:rPr lang="en-US" dirty="0" err="1"/>
              <a:t>kereta</a:t>
            </a:r>
            <a:r>
              <a:rPr lang="en-US" dirty="0"/>
              <a:t> </a:t>
            </a:r>
            <a:r>
              <a:rPr lang="en-US" dirty="0" err="1"/>
              <a:t>api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memahami</a:t>
            </a:r>
            <a:r>
              <a:rPr lang="en-US" dirty="0"/>
              <a:t> </a:t>
            </a:r>
            <a:r>
              <a:rPr lang="en-US" dirty="0" err="1"/>
              <a:t>logistik</a:t>
            </a:r>
            <a:r>
              <a:rPr lang="en-US" dirty="0"/>
              <a:t> </a:t>
            </a:r>
            <a:r>
              <a:rPr lang="en-US" dirty="0" err="1"/>
              <a:t>peluncuran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Dashboard </a:t>
            </a:r>
            <a:r>
              <a:rPr lang="en-US" dirty="0" err="1"/>
              <a:t>Interaktif</a:t>
            </a:r>
            <a:r>
              <a:rPr lang="en-US" dirty="0"/>
              <a:t> (</a:t>
            </a:r>
            <a:r>
              <a:rPr lang="en-US" dirty="0" err="1"/>
              <a:t>Plotly</a:t>
            </a:r>
            <a:r>
              <a:rPr lang="en-US" dirty="0"/>
              <a:t> Dash):</a:t>
            </a:r>
          </a:p>
          <a:p>
            <a:pPr marL="0" indent="0">
              <a:buNone/>
            </a:pPr>
            <a:r>
              <a:rPr lang="en-US" dirty="0"/>
              <a:t>Diagram Pai (Pie Chart): </a:t>
            </a: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dirty="0" err="1"/>
              <a:t>ringkasan</a:t>
            </a:r>
            <a:r>
              <a:rPr lang="en-US" dirty="0"/>
              <a:t> visual </a:t>
            </a:r>
            <a:r>
              <a:rPr lang="en-US" dirty="0" err="1"/>
              <a:t>mengenai</a:t>
            </a:r>
            <a:r>
              <a:rPr lang="en-US" dirty="0"/>
              <a:t> total </a:t>
            </a:r>
            <a:r>
              <a:rPr lang="en-US" dirty="0" err="1"/>
              <a:t>keberhasilan</a:t>
            </a:r>
            <a:r>
              <a:rPr lang="en-US" dirty="0"/>
              <a:t> </a:t>
            </a:r>
            <a:r>
              <a:rPr lang="en-US" dirty="0" err="1"/>
              <a:t>pendaratan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situs </a:t>
            </a:r>
            <a:r>
              <a:rPr lang="en-US" dirty="0" err="1"/>
              <a:t>peluncuran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real-time.</a:t>
            </a:r>
          </a:p>
          <a:p>
            <a:pPr marL="0" indent="0">
              <a:buNone/>
            </a:pPr>
            <a:r>
              <a:rPr lang="en-US" dirty="0"/>
              <a:t>Scatter Plot: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hubungan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Massa </a:t>
            </a:r>
            <a:r>
              <a:rPr lang="en-US" dirty="0" err="1"/>
              <a:t>Muatan</a:t>
            </a:r>
            <a:r>
              <a:rPr lang="en-US" dirty="0"/>
              <a:t> (Payload Mass)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pendaratan</a:t>
            </a:r>
            <a:r>
              <a:rPr lang="en-US" dirty="0"/>
              <a:t> (Landing Outcome)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</a:t>
            </a:r>
            <a:r>
              <a:rPr lang="en-US" dirty="0" err="1"/>
              <a:t>roket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Temuan</a:t>
            </a:r>
            <a:r>
              <a:rPr lang="en-US" dirty="0"/>
              <a:t> </a:t>
            </a:r>
            <a:r>
              <a:rPr lang="en-US" dirty="0" err="1"/>
              <a:t>Kunci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Lokasi </a:t>
            </a:r>
            <a:r>
              <a:rPr lang="en-US" dirty="0" err="1"/>
              <a:t>peluncuran</a:t>
            </a:r>
            <a:r>
              <a:rPr lang="en-US" dirty="0"/>
              <a:t> </a:t>
            </a:r>
            <a:r>
              <a:rPr lang="en-US" dirty="0" err="1"/>
              <a:t>strategis</a:t>
            </a:r>
            <a:r>
              <a:rPr lang="en-US" dirty="0"/>
              <a:t> </a:t>
            </a:r>
            <a:r>
              <a:rPr lang="en-US" dirty="0" err="1"/>
              <a:t>selalu</a:t>
            </a:r>
            <a:r>
              <a:rPr lang="en-US" dirty="0"/>
              <a:t> </a:t>
            </a:r>
            <a:r>
              <a:rPr lang="en-US" dirty="0" err="1"/>
              <a:t>berada</a:t>
            </a:r>
            <a:r>
              <a:rPr lang="en-US" dirty="0"/>
              <a:t> </a:t>
            </a:r>
            <a:r>
              <a:rPr lang="en-US" dirty="0" err="1"/>
              <a:t>dekat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garis </a:t>
            </a:r>
            <a:r>
              <a:rPr lang="en-US" dirty="0" err="1"/>
              <a:t>pantai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keamanan</a:t>
            </a:r>
            <a:r>
              <a:rPr lang="en-US" dirty="0"/>
              <a:t> </a:t>
            </a:r>
            <a:r>
              <a:rPr lang="en-US" dirty="0" err="1"/>
              <a:t>pendaratan</a:t>
            </a:r>
            <a:r>
              <a:rPr lang="en-US" dirty="0"/>
              <a:t> </a:t>
            </a:r>
            <a:r>
              <a:rPr lang="en-US" dirty="0" err="1"/>
              <a:t>tahap</a:t>
            </a:r>
            <a:r>
              <a:rPr lang="en-US" dirty="0"/>
              <a:t> </a:t>
            </a:r>
            <a:r>
              <a:rPr lang="en-US" dirty="0" err="1"/>
              <a:t>pertama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Keberhasilan</a:t>
            </a:r>
            <a:r>
              <a:rPr lang="en-US" dirty="0"/>
              <a:t> </a:t>
            </a:r>
            <a:r>
              <a:rPr lang="en-US" dirty="0" err="1"/>
              <a:t>pendaratan</a:t>
            </a:r>
            <a:r>
              <a:rPr lang="en-US" dirty="0"/>
              <a:t> sangat </a:t>
            </a:r>
            <a:r>
              <a:rPr lang="en-US" dirty="0" err="1"/>
              <a:t>dipengaruhi</a:t>
            </a:r>
            <a:r>
              <a:rPr lang="en-US" dirty="0"/>
              <a:t> oleh </a:t>
            </a:r>
            <a:r>
              <a:rPr lang="en-US" dirty="0" err="1"/>
              <a:t>optimasi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muatan</a:t>
            </a:r>
            <a:r>
              <a:rPr lang="en-US" dirty="0"/>
              <a:t> dan </a:t>
            </a:r>
            <a:r>
              <a:rPr lang="en-US" dirty="0" err="1"/>
              <a:t>pemilihan</a:t>
            </a:r>
            <a:r>
              <a:rPr lang="en-US" dirty="0"/>
              <a:t> situs </a:t>
            </a:r>
            <a:r>
              <a:rPr lang="en-US" dirty="0" err="1"/>
              <a:t>peluncuran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6183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CB501-43F3-8DF9-18FC-FD9E2FC46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66BCA-182C-B282-0ED9-1558A541D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dirty="0"/>
              <a:t>Slide 1.11: EDA with Visualization Results</a:t>
            </a:r>
            <a:br>
              <a:rPr lang="en-US" sz="2400" dirty="0"/>
            </a:br>
            <a:r>
              <a:rPr lang="en-US" sz="2400" dirty="0" err="1"/>
              <a:t>Judul</a:t>
            </a:r>
            <a:r>
              <a:rPr lang="en-US" sz="2400" dirty="0"/>
              <a:t> Slide: Exploratory Data Analysis – Visualizing Patterns</a:t>
            </a:r>
            <a:br>
              <a:rPr lang="en-US" sz="2400" dirty="0"/>
            </a:br>
            <a:r>
              <a:rPr lang="en-US" sz="2400" dirty="0"/>
              <a:t>GitHub URL: https://github.com/imam9090/Capstone_Project_SpaceX.git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BD460-99FE-95AA-C25A-7E73DD031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dirty="0" err="1"/>
              <a:t>Keberhasilan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Lokasi (</a:t>
            </a:r>
            <a:r>
              <a:rPr lang="en-US" dirty="0" err="1"/>
              <a:t>Grafik</a:t>
            </a:r>
            <a:r>
              <a:rPr lang="en-US" dirty="0"/>
              <a:t> </a:t>
            </a:r>
            <a:r>
              <a:rPr lang="en-US" dirty="0" err="1"/>
              <a:t>Batang</a:t>
            </a:r>
            <a:r>
              <a:rPr lang="en-US" dirty="0"/>
              <a:t> / Bar Chart):</a:t>
            </a:r>
          </a:p>
          <a:p>
            <a:pPr marL="0" indent="0">
              <a:buNone/>
            </a:pPr>
            <a:r>
              <a:rPr lang="en-US" dirty="0" err="1"/>
              <a:t>Visualisasi</a:t>
            </a:r>
            <a:r>
              <a:rPr lang="en-US" dirty="0"/>
              <a:t>: Menampilkan </a:t>
            </a:r>
            <a:r>
              <a:rPr lang="en-US" dirty="0" err="1"/>
              <a:t>tingkat</a:t>
            </a:r>
            <a:r>
              <a:rPr lang="en-US" dirty="0"/>
              <a:t> </a:t>
            </a:r>
            <a:r>
              <a:rPr lang="en-US" dirty="0" err="1"/>
              <a:t>keberhasilan</a:t>
            </a:r>
            <a:r>
              <a:rPr lang="en-US" dirty="0"/>
              <a:t> (Success Rate) di </a:t>
            </a:r>
            <a:r>
              <a:rPr lang="en-US" dirty="0" err="1"/>
              <a:t>setiap</a:t>
            </a:r>
            <a:r>
              <a:rPr lang="en-US" dirty="0"/>
              <a:t> situs </a:t>
            </a:r>
            <a:r>
              <a:rPr lang="en-US" dirty="0" err="1"/>
              <a:t>peluncuran</a:t>
            </a:r>
            <a:r>
              <a:rPr lang="en-US" dirty="0"/>
              <a:t> (KSC LC-39A, VAFB SLC-4E, CCSFS SLC-40).</a:t>
            </a:r>
          </a:p>
          <a:p>
            <a:pPr marL="0" indent="0">
              <a:buNone/>
            </a:pPr>
            <a:r>
              <a:rPr lang="en-US" dirty="0" err="1"/>
              <a:t>Temuan</a:t>
            </a:r>
            <a:r>
              <a:rPr lang="en-US" dirty="0"/>
              <a:t>: Situs KSC LC-39A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peluncuran</a:t>
            </a:r>
            <a:r>
              <a:rPr lang="en-US" dirty="0"/>
              <a:t> </a:t>
            </a:r>
            <a:r>
              <a:rPr lang="en-US" dirty="0" err="1"/>
              <a:t>terbanyak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tingkat</a:t>
            </a:r>
            <a:r>
              <a:rPr lang="en-US" dirty="0"/>
              <a:t> </a:t>
            </a:r>
            <a:r>
              <a:rPr lang="en-US" dirty="0" err="1"/>
              <a:t>keberhasilan</a:t>
            </a:r>
            <a:r>
              <a:rPr lang="en-US" dirty="0"/>
              <a:t> yang </a:t>
            </a:r>
            <a:r>
              <a:rPr lang="en-US" dirty="0" err="1"/>
              <a:t>relatif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 </a:t>
            </a:r>
            <a:r>
              <a:rPr lang="en-US" dirty="0" err="1"/>
              <a:t>dibandingkan</a:t>
            </a:r>
            <a:r>
              <a:rPr lang="en-US" dirty="0"/>
              <a:t> situs </a:t>
            </a:r>
            <a:r>
              <a:rPr lang="en-US" dirty="0" err="1"/>
              <a:t>lainnya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2. Payload vs. Launch Site (Diagram </a:t>
            </a:r>
            <a:r>
              <a:rPr lang="en-US" dirty="0" err="1"/>
              <a:t>Sebar</a:t>
            </a:r>
            <a:r>
              <a:rPr lang="en-US" dirty="0"/>
              <a:t> / Scatter Plot):</a:t>
            </a:r>
          </a:p>
          <a:p>
            <a:pPr marL="0" indent="0">
              <a:buNone/>
            </a:pPr>
            <a:r>
              <a:rPr lang="en-US" dirty="0" err="1"/>
              <a:t>Visualisasi</a:t>
            </a:r>
            <a:r>
              <a:rPr lang="en-US" dirty="0"/>
              <a:t>: </a:t>
            </a:r>
            <a:r>
              <a:rPr lang="en-US" dirty="0" err="1"/>
              <a:t>Memetakan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muatan</a:t>
            </a:r>
            <a:r>
              <a:rPr lang="en-US" dirty="0"/>
              <a:t> (Payload Mass) </a:t>
            </a:r>
            <a:r>
              <a:rPr lang="en-US" dirty="0" err="1"/>
              <a:t>terhadap</a:t>
            </a:r>
            <a:r>
              <a:rPr lang="en-US" dirty="0"/>
              <a:t> situs </a:t>
            </a:r>
            <a:r>
              <a:rPr lang="en-US" dirty="0" err="1"/>
              <a:t>peluncuran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yang </a:t>
            </a:r>
            <a:r>
              <a:rPr lang="en-US" dirty="0" err="1"/>
              <a:t>membedakan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pendaratan</a:t>
            </a:r>
            <a:r>
              <a:rPr lang="en-US" dirty="0"/>
              <a:t> (</a:t>
            </a:r>
            <a:r>
              <a:rPr lang="en-US" dirty="0" err="1"/>
              <a:t>Sukses</a:t>
            </a:r>
            <a:r>
              <a:rPr lang="en-US" dirty="0"/>
              <a:t>/</a:t>
            </a:r>
            <a:r>
              <a:rPr lang="en-US" dirty="0" err="1"/>
              <a:t>Gagal</a:t>
            </a:r>
            <a:r>
              <a:rPr lang="en-US" dirty="0"/>
              <a:t>).</a:t>
            </a:r>
          </a:p>
          <a:p>
            <a:pPr marL="0" indent="0">
              <a:buNone/>
            </a:pPr>
            <a:r>
              <a:rPr lang="en-US" dirty="0" err="1"/>
              <a:t>Temuan</a:t>
            </a:r>
            <a:r>
              <a:rPr lang="en-US" dirty="0"/>
              <a:t>: Sebagian </a:t>
            </a:r>
            <a:r>
              <a:rPr lang="en-US" dirty="0" err="1"/>
              <a:t>besar</a:t>
            </a:r>
            <a:r>
              <a:rPr lang="en-US" dirty="0"/>
              <a:t> </a:t>
            </a:r>
            <a:r>
              <a:rPr lang="en-US" dirty="0" err="1"/>
              <a:t>kegagalan</a:t>
            </a:r>
            <a:r>
              <a:rPr lang="en-US" dirty="0"/>
              <a:t> </a:t>
            </a:r>
            <a:r>
              <a:rPr lang="en-US" dirty="0" err="1"/>
              <a:t>pendaratan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 pada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muatan</a:t>
            </a:r>
            <a:r>
              <a:rPr lang="en-US" dirty="0"/>
              <a:t> yang sangat </a:t>
            </a:r>
            <a:r>
              <a:rPr lang="en-US" dirty="0" err="1"/>
              <a:t>berat</a:t>
            </a:r>
            <a:r>
              <a:rPr lang="en-US" dirty="0"/>
              <a:t> di </a:t>
            </a:r>
            <a:r>
              <a:rPr lang="en-US" dirty="0" err="1"/>
              <a:t>lokasi</a:t>
            </a:r>
            <a:r>
              <a:rPr lang="en-US" dirty="0"/>
              <a:t> </a:t>
            </a:r>
            <a:r>
              <a:rPr lang="en-US" dirty="0" err="1"/>
              <a:t>peluncuran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, </a:t>
            </a:r>
            <a:r>
              <a:rPr lang="en-US" dirty="0" err="1"/>
              <a:t>sementara</a:t>
            </a:r>
            <a:r>
              <a:rPr lang="en-US" dirty="0"/>
              <a:t> </a:t>
            </a:r>
            <a:r>
              <a:rPr lang="en-US" dirty="0" err="1"/>
              <a:t>muatan</a:t>
            </a:r>
            <a:r>
              <a:rPr lang="en-US" dirty="0"/>
              <a:t> </a:t>
            </a:r>
            <a:r>
              <a:rPr lang="en-US" dirty="0" err="1"/>
              <a:t>menengah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konsistensi</a:t>
            </a:r>
            <a:r>
              <a:rPr lang="en-US" dirty="0"/>
              <a:t> </a:t>
            </a:r>
            <a:r>
              <a:rPr lang="en-US" dirty="0" err="1"/>
              <a:t>sukses</a:t>
            </a:r>
            <a:r>
              <a:rPr lang="en-US" dirty="0"/>
              <a:t>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3. Tren </a:t>
            </a:r>
            <a:r>
              <a:rPr lang="en-US" dirty="0" err="1"/>
              <a:t>Keberhasilan</a:t>
            </a:r>
            <a:r>
              <a:rPr lang="en-US" dirty="0"/>
              <a:t> </a:t>
            </a:r>
            <a:r>
              <a:rPr lang="en-US" dirty="0" err="1"/>
              <a:t>Tahunan</a:t>
            </a:r>
            <a:r>
              <a:rPr lang="en-US" dirty="0"/>
              <a:t> (</a:t>
            </a:r>
            <a:r>
              <a:rPr lang="en-US" dirty="0" err="1"/>
              <a:t>Grafik</a:t>
            </a:r>
            <a:r>
              <a:rPr lang="en-US" dirty="0"/>
              <a:t> Garis / Line Chart):</a:t>
            </a:r>
          </a:p>
          <a:p>
            <a:pPr marL="0" indent="0">
              <a:buNone/>
            </a:pPr>
            <a:r>
              <a:rPr lang="en-US" dirty="0" err="1"/>
              <a:t>Visualisasi</a:t>
            </a:r>
            <a:r>
              <a:rPr lang="en-US" dirty="0"/>
              <a:t>: Menampilkan </a:t>
            </a:r>
            <a:r>
              <a:rPr lang="en-US" dirty="0" err="1"/>
              <a:t>perubahan</a:t>
            </a:r>
            <a:r>
              <a:rPr lang="en-US" dirty="0"/>
              <a:t> rata-rata </a:t>
            </a:r>
            <a:r>
              <a:rPr lang="en-US" dirty="0" err="1"/>
              <a:t>keberhasilan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tahun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tahun</a:t>
            </a:r>
            <a:r>
              <a:rPr lang="en-US" dirty="0"/>
              <a:t> </a:t>
            </a:r>
            <a:r>
              <a:rPr lang="en-US" dirty="0" err="1"/>
              <a:t>sejak</a:t>
            </a:r>
            <a:r>
              <a:rPr lang="en-US" dirty="0"/>
              <a:t> </a:t>
            </a:r>
            <a:r>
              <a:rPr lang="en-US" dirty="0" err="1"/>
              <a:t>awal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Falcon 9.</a:t>
            </a:r>
          </a:p>
          <a:p>
            <a:pPr marL="0" indent="0">
              <a:buNone/>
            </a:pPr>
            <a:r>
              <a:rPr lang="en-US" dirty="0" err="1"/>
              <a:t>Temuan</a:t>
            </a:r>
            <a:r>
              <a:rPr lang="en-US" dirty="0"/>
              <a:t>: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tren</a:t>
            </a:r>
            <a:r>
              <a:rPr lang="en-US" dirty="0"/>
              <a:t> </a:t>
            </a:r>
            <a:r>
              <a:rPr lang="en-US" dirty="0" err="1"/>
              <a:t>peningkatan</a:t>
            </a:r>
            <a:r>
              <a:rPr lang="en-US" dirty="0"/>
              <a:t> </a:t>
            </a:r>
            <a:r>
              <a:rPr lang="en-US" dirty="0" err="1"/>
              <a:t>keberhasilan</a:t>
            </a:r>
            <a:r>
              <a:rPr lang="en-US" dirty="0"/>
              <a:t> yang </a:t>
            </a:r>
            <a:r>
              <a:rPr lang="en-US" dirty="0" err="1"/>
              <a:t>signifikan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tahun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tahun</a:t>
            </a:r>
            <a:r>
              <a:rPr lang="en-US" dirty="0"/>
              <a:t>,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teknologi</a:t>
            </a:r>
            <a:r>
              <a:rPr lang="en-US" dirty="0"/>
              <a:t> </a:t>
            </a:r>
            <a:r>
              <a:rPr lang="en-US" dirty="0" err="1"/>
              <a:t>pendaratan</a:t>
            </a:r>
            <a:r>
              <a:rPr lang="en-US" dirty="0"/>
              <a:t> SpaceX </a:t>
            </a:r>
            <a:r>
              <a:rPr lang="en-US" dirty="0" err="1"/>
              <a:t>semakin</a:t>
            </a:r>
            <a:r>
              <a:rPr lang="en-US" dirty="0"/>
              <a:t> </a:t>
            </a:r>
            <a:r>
              <a:rPr lang="en-US" dirty="0" err="1"/>
              <a:t>matang</a:t>
            </a:r>
            <a:r>
              <a:rPr lang="en-US" dirty="0"/>
              <a:t> dan </a:t>
            </a:r>
            <a:r>
              <a:rPr lang="en-US" dirty="0" err="1"/>
              <a:t>stabil</a:t>
            </a:r>
            <a:r>
              <a:rPr lang="en-US" dirty="0"/>
              <a:t> </a:t>
            </a:r>
            <a:r>
              <a:rPr lang="en-US" dirty="0" err="1"/>
              <a:t>seiring</a:t>
            </a:r>
            <a:r>
              <a:rPr lang="en-US" dirty="0"/>
              <a:t> </a:t>
            </a:r>
            <a:r>
              <a:rPr lang="en-US" dirty="0" err="1"/>
              <a:t>berjalannya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BCFCDD-6419-79D2-5EA8-012ABA833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365" y="5157532"/>
            <a:ext cx="7942729" cy="131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257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6FC4F-B2DE-F7D5-F4A0-8B28FDF83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B821F-E5E8-9C5A-B839-0324115D6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dirty="0"/>
              <a:t>1.12 EDA with SQL - Landing Outcomes Analysis.</a:t>
            </a:r>
            <a:br>
              <a:rPr lang="en-US" sz="2400" dirty="0"/>
            </a:br>
            <a:r>
              <a:rPr lang="en-US" sz="2400" dirty="0"/>
              <a:t>GitHub URL: https://github.com/imam9090/Capstone_Project_SpaceX.git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2A56C-B528-D429-BC02-388EB5D77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Kueri</a:t>
            </a:r>
            <a:r>
              <a:rPr lang="en-US" dirty="0"/>
              <a:t> SQL: %%</a:t>
            </a:r>
            <a:r>
              <a:rPr lang="en-US" dirty="0" err="1"/>
              <a:t>sqlSELECT</a:t>
            </a:r>
            <a:r>
              <a:rPr lang="en-US" dirty="0"/>
              <a:t> "</a:t>
            </a:r>
            <a:r>
              <a:rPr lang="en-US" dirty="0" err="1"/>
              <a:t>Landing_Outcome</a:t>
            </a:r>
            <a:r>
              <a:rPr lang="en-US" dirty="0"/>
              <a:t>", COUNT(*) AS </a:t>
            </a:r>
            <a:r>
              <a:rPr lang="en-US" dirty="0" err="1"/>
              <a:t>Total_CountFROM</a:t>
            </a:r>
            <a:r>
              <a:rPr lang="en-US" dirty="0"/>
              <a:t> SPACEXTBLWHERE "Date" BETWEEN '2010-06-04' AND '2017-03-20'GROUP BY "</a:t>
            </a:r>
            <a:r>
              <a:rPr lang="en-US" dirty="0" err="1"/>
              <a:t>Landing_Outcome"ORDER</a:t>
            </a:r>
            <a:r>
              <a:rPr lang="en-US" dirty="0"/>
              <a:t> BY </a:t>
            </a:r>
            <a:r>
              <a:rPr lang="en-US" dirty="0" err="1"/>
              <a:t>Total_Count</a:t>
            </a:r>
            <a:r>
              <a:rPr lang="en-US" dirty="0"/>
              <a:t> DESC;SELECT </a:t>
            </a:r>
            <a:r>
              <a:rPr lang="en-US" dirty="0" err="1"/>
              <a:t>Landing_Outcome</a:t>
            </a:r>
            <a:r>
              <a:rPr lang="en-US" dirty="0"/>
              <a:t>, COUNT(*) AS </a:t>
            </a:r>
            <a:r>
              <a:rPr lang="en-US" dirty="0" err="1"/>
              <a:t>Total_Count</a:t>
            </a:r>
            <a:r>
              <a:rPr lang="en-US" dirty="0"/>
              <a:t> FROM SPACEXTBL GROUP BY </a:t>
            </a:r>
            <a:r>
              <a:rPr lang="en-US" dirty="0" err="1"/>
              <a:t>Landing_Outcome</a:t>
            </a:r>
            <a:r>
              <a:rPr lang="en-US" dirty="0"/>
              <a:t>;.</a:t>
            </a:r>
          </a:p>
          <a:p>
            <a:pPr marL="0" indent="0">
              <a:buNone/>
            </a:pPr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Singkat</a:t>
            </a:r>
            <a:r>
              <a:rPr lang="en-US" dirty="0"/>
              <a:t>: Ada 10 </a:t>
            </a:r>
            <a:r>
              <a:rPr lang="en-US" dirty="0" err="1"/>
              <a:t>peluncuran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upaya</a:t>
            </a:r>
            <a:r>
              <a:rPr lang="en-US" dirty="0"/>
              <a:t> </a:t>
            </a:r>
            <a:r>
              <a:rPr lang="en-US" dirty="0" err="1"/>
              <a:t>pendaratan</a:t>
            </a:r>
            <a:r>
              <a:rPr lang="en-US" dirty="0"/>
              <a:t> (No attempt). </a:t>
            </a:r>
            <a:r>
              <a:rPr lang="en-US" dirty="0" err="1"/>
              <a:t>Pendaratan</a:t>
            </a:r>
            <a:r>
              <a:rPr lang="en-US" dirty="0"/>
              <a:t> </a:t>
            </a:r>
            <a:r>
              <a:rPr lang="en-US" dirty="0" err="1"/>
              <a:t>sukses</a:t>
            </a:r>
            <a:r>
              <a:rPr lang="en-US" dirty="0"/>
              <a:t> paling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di drone ship (5 kali) dan ground pad (3 kali).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48CFCF-6761-AF4D-4C8A-288C4955C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368" y="4594176"/>
            <a:ext cx="2748879" cy="207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775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1483A-6E40-3E69-40FE-98710B24C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7C51A-83B9-BD92-DD33-119AC4517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/>
              <a:t>Slide </a:t>
            </a:r>
            <a:r>
              <a:rPr lang="en-US" sz="2400" b="1" dirty="0"/>
              <a:t>1.13: </a:t>
            </a:r>
            <a:r>
              <a:rPr lang="en-US" sz="2400" b="1" dirty="0" err="1"/>
              <a:t>Analisis</a:t>
            </a:r>
            <a:r>
              <a:rPr lang="en-US" sz="2400" b="1" dirty="0"/>
              <a:t> Peta </a:t>
            </a:r>
            <a:r>
              <a:rPr lang="en-US" sz="2400" b="1" dirty="0" err="1"/>
              <a:t>Interaktif</a:t>
            </a:r>
            <a:r>
              <a:rPr lang="en-US" sz="2400" b="1" dirty="0"/>
              <a:t> (Folium)</a:t>
            </a:r>
            <a:br>
              <a:rPr lang="en-US" sz="2400" b="1" dirty="0"/>
            </a:br>
            <a:r>
              <a:rPr lang="en-US" sz="2400" b="1" dirty="0" err="1"/>
              <a:t>Judul</a:t>
            </a:r>
            <a:r>
              <a:rPr lang="en-US" sz="2400" b="1" dirty="0"/>
              <a:t> Slide:</a:t>
            </a:r>
            <a:r>
              <a:rPr lang="en-US" sz="2400" dirty="0"/>
              <a:t> Interactive Geographical Analysis with Folium</a:t>
            </a:r>
            <a:br>
              <a:rPr lang="en-US" sz="2400" dirty="0"/>
            </a:br>
            <a:r>
              <a:rPr lang="en-US" sz="2400" dirty="0"/>
              <a:t>GitHub URL: https://github.com/imam9090/Capstone_Project_SpaceX.git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52582" y="1238390"/>
            <a:ext cx="10901218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Slide 1: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Visualisasi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Lokasi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Peluncuran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(Launch Sites)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Isi: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Poin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Penjelasan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 4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lokasi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utama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CCAFS LC-40, CCAFS SLC-40, KSC LC-39A,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VAFB SLC-4E.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Semua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lokasi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berada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wilayah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pesisir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Amerika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Serikat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(Florida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California).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Slide 2: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Analisis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Keberhasilan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vs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Kegagalan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(Marker Clusters)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Isi: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Poin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Penjelasan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Penggunaan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Marker Cluster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membantu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mengelompokkan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peluncuran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yang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sangat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banyak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agar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lebih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rapi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Warna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Hijau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menunjukkan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keberhasilan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class=1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Merah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menunjukkan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kegagalan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class=0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Visualisasi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memudahkan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identifikasi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lokasi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 yang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memiliki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tingkat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keberhasilan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tertinggi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secara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sekilas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Slide 3: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Analisis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Kedekatan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Geografis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(Proximities)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Isi: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Poin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Penjelasan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Keamanan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Lokasi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peluncuran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sangat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dekat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dengan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garis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pantai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(Coastline)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untuk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meminimalkan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risiko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jika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terjadi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kecelakaan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saat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lepas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landas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Logistik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Lokasi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dekat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dengan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infrastruktur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transportasi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seperti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Jalan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Tol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(Highways)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Jalur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Kereta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(Railways)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untuk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memudahkan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pengiriman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komponen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roket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yang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berat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Keselamatan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Publik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Lokasi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sengaja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dipilih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jauh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dari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pusat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kota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(Cities)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untuk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melindungi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penduduk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dari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kebisingan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potensi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bahaya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8765" y="1238390"/>
            <a:ext cx="3094181" cy="18166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8998" y="3209824"/>
            <a:ext cx="2849604" cy="16101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5805" y="5026484"/>
            <a:ext cx="2365086" cy="135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942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6FC4F-B2DE-F7D5-F4A0-8B28FDF83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B821F-E5E8-9C5A-B839-0324115D6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1.14 </a:t>
            </a:r>
            <a:r>
              <a:rPr lang="en-US" sz="2400" dirty="0" err="1" smtClean="0"/>
              <a:t>Plotly</a:t>
            </a:r>
            <a:r>
              <a:rPr lang="en-US" sz="2400" dirty="0" smtClean="0"/>
              <a:t> Dash.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GitHub URL: https://github.com/imam9090/Capstone_Project_SpaceX.git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35" y="1154545"/>
            <a:ext cx="6596262" cy="303511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35" y="4259702"/>
            <a:ext cx="7221079" cy="2168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943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6FC4F-B2DE-F7D5-F4A0-8B28FDF83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B821F-E5E8-9C5A-B839-0324115D6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1.14 </a:t>
            </a:r>
            <a:r>
              <a:rPr lang="en-US" sz="2400" dirty="0" err="1" smtClean="0"/>
              <a:t>Plotly</a:t>
            </a:r>
            <a:r>
              <a:rPr lang="en-US" sz="2400" dirty="0" smtClean="0"/>
              <a:t> Dash.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GitHub URL: https://github.com/imam9090/Capstone_Project_SpaceX.git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891" y="1325563"/>
            <a:ext cx="1146232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Berikut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draf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slide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presentasi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Bahasa Indonesia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bagian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Prediktif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hingga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Kesimpulan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yang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dirangkum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profesional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laporan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akhir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1: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Ringkasan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Prediktif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Tujuan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Memprediksi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apakah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pendaratan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roket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Falcon 9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berhasil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gagal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Metodologi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Melatih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empat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Machine Learning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fitur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telah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distandarisasi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Optimasi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menemukan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parameter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terbaik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Pembagian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Data: Data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dibagi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pelatihan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(train)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pengujian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(test)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mengevaluasi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akurasi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baru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2: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Hasil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Evaluasi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Performa Model</a:t>
            </a:r>
          </a:p>
          <a:p>
            <a:pPr algn="just"/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Hasil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Akurasi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Keempat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(Logistic Regression, SVM, Decision Tree,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KNN)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memberikan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hasil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sangat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baik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Skor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Akurasi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Semua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mencapai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akurasi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sekitar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83,33%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pengujian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Konsistensi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Skor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menunjukkan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bahwa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fitur-fitur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massa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muatan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jenis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orbit)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prediktor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kuat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3: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Confusion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Kegunaan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melihat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seberapa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memprediksi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kelas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Sukses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Gagal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akurat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Akurasi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Prediksi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Model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menunjukkan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jumlah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True Positives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True Negatives yang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tinggi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Kesimpulan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Matriks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Kesalahan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prediksi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(False Positives/Negatives)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sangat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membuktikan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bahwa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sangat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handal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4: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Pemilihan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Terbaik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Terbaik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teknis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keempat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setara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(83,33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%).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Rekomendasi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Logistic Regression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SVM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dipilih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karena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efisiensinya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pengolahan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kemudahan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interpretasi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hasilnya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Kestabilan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Model-model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terbukti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stabil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mengalami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overfitting yang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signifikan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SpaceX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Slide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5: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Kesimpulan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Akhir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</a:t>
            </a:r>
          </a:p>
          <a:p>
            <a:pPr algn="just"/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Keberhasilan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Proyek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Kita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berhasil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membangun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prediksi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pendaratan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roket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akurasi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83%.</a:t>
            </a:r>
          </a:p>
          <a:p>
            <a:pPr algn="just"/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Wawasan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Lokasi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peluncuran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muatan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(payload mass),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jenis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orbit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sangat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mempengaruhi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peluang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pendaratan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sukses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Dampak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Bisnis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Prediksi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membantu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SpaceX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mengestimasi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biaya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karena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pendaratan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sukses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berarti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roket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kembali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(reusable), yang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drastis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menghemat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biaya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peluncuran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6143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1424</Words>
  <Application>Microsoft Office PowerPoint</Application>
  <PresentationFormat>Widescreen</PresentationFormat>
  <Paragraphs>97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 Unicode MS</vt:lpstr>
      <vt:lpstr>Arial</vt:lpstr>
      <vt:lpstr>Calibri</vt:lpstr>
      <vt:lpstr>Calibri Light</vt:lpstr>
      <vt:lpstr>Times New Roman</vt:lpstr>
      <vt:lpstr>Office Theme</vt:lpstr>
      <vt:lpstr>Judul: SpaceX Falcon 9 First Stage Landing Prediction Nama: Imam Bagus Pratama GitHub URL: https://github.com/imam9090/Capstone_Project_SpaceX.git</vt:lpstr>
      <vt:lpstr>Masalah: SpaceX menghemat biaya dengan menggunakan kembali roket. Memprediksi keberhasilan pendaratan sangat krusial untuk menentukan harga peluncuran. Metodologi: Data dikumpulkan via API &amp; Web Scraping, diolah dengan SQL &amp; Pandas, divisualisasikan dengan Folium &amp; Plotly Dash, dan diklasifikasi dengan Machine Learning. Hasil: Model Decision Tree memberikan akurasi tertinggi (~83%). Faktor utama keberhasilan adalah lokasi peluncuran dan massa muatan (payload mass). https://github.com/imam9090/Capstone_Project_SpaceX.git</vt:lpstr>
      <vt:lpstr>Latar Belakang: SpaceX menawarkan harga $62 juta per peluncuran, jauh di bawah pesaing ($165 juta). Tujuan: Membangun model klasifikasi untuk memprediksi apakah tahap pertama roket akan mendarat dengan sukses. https://github.com/imam9090/Capstone_Project_SpaceX.git</vt:lpstr>
      <vt:lpstr>API: Mengambil data peluncuran dari API SpaceX (Rocket, Payload, Launchpad, dll). Web Scraping: Mengambil data tambahan dari tabel Wikipedia menggunakan BeautifulSoup. Wrangling: Menangani nilai null, mengubah kolom menjadi format yang benar, dan membuat kolom target Class (1 untuk sukses, 0 untuk gagal). https://github.com/imam9090/Capstone_Project_SpaceX.git</vt:lpstr>
      <vt:lpstr>Metode: Menggunakan Pandas untuk manipulasi data dan Matplotlib/Seaborn untuk visualisasi. Tujuan: Mencari pola hubungan antara massa muatan, orbit, dan tingkat keberhasilan. https://github.com/imam9090/Capstone_Project_SpaceX.git</vt:lpstr>
      <vt:lpstr>SELECT DISTINCT Launch_Site FROM SPACEXTBL; SELECT SUM(PAYLOAD_MASS__KG_) FROM SPACEXTBL WHERE Customer = 'NASA (CRS)'; Hasil: Mengidentifikasi total muatan dan situs peluncuran utama. https://github.com/imam9090/Capstone_Project_SpaceX.git</vt:lpstr>
      <vt:lpstr>SELECT DISTINCT Launch_Site FROM SPACEXTBL; SELECT SUM(PAYLOAD_MASS__KG_) FROM SPACEXTBL WHERE Customer = 'NASA (CRS)'; Hasil: Mengidentifikasi total muatan dan situs peluncuran utama. https://github.com/imam9090/Capstone_Project_SpaceX.git</vt:lpstr>
      <vt:lpstr>SELECT DISTINCT Launch_Site FROM SPACEXTBL; SELECT SUM(PAYLOAD_MASS__KG_) FROM SPACEXTBL WHERE Customer = 'NASA (CRS)'; Hasil: Mengidentifikasi total muatan dan situs peluncuran utama. https://github.com/imam9090/Capstone_Project_SpaceX.git</vt:lpstr>
      <vt:lpstr>Sertakan screenshot peta Folium kamu. Analisis: Menandai lokasi peluncuran (KSC LC-39A, VAFB SLC-4E, CCSFS SLC-40). Temuan: Menghitung jarak lokasi peluncuran ke garis pantai atau jalan raya terdekat. https://github.com/imam9090/Capstone_Project_SpaceX.git</vt:lpstr>
      <vt:lpstr>Interactive Visual Analysis Judul Slide: Interactive Visual Analysis with Folium and Plotly Dash GitHub URL: https://github.com/imam9090/Capstone_Project_SpaceX.git</vt:lpstr>
      <vt:lpstr>Slide 1.11: EDA with Visualization Results Judul Slide: Exploratory Data Analysis – Visualizing Patterns GitHub URL: https://github.com/imam9090/Capstone_Project_SpaceX.git</vt:lpstr>
      <vt:lpstr>1.12 EDA with SQL - Landing Outcomes Analysis. GitHub URL: https://github.com/imam9090/Capstone_Project_SpaceX.git</vt:lpstr>
      <vt:lpstr>Slide 1.13: Analisis Peta Interaktif (Folium) Judul Slide: Interactive Geographical Analysis with Folium GitHub URL: https://github.com/imam9090/Capstone_Project_SpaceX.git</vt:lpstr>
      <vt:lpstr>1.14 Plotly Dash. GitHub URL: https://github.com/imam9090/Capstone_Project_SpaceX.git</vt:lpstr>
      <vt:lpstr>1.14 Plotly Dash. GitHub URL: https://github.com/imam9090/Capstone_Project_SpaceX.git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Judul: SpaceX Falcon 9 First Stage Landing Prediction Nama: Imam Bagus Pratama GitHub URL: https://github.com/imam9090/Capstone_Project_SpaceX.git</dc:title>
  <dc:creator>Laboran D.2D</dc:creator>
  <cp:lastModifiedBy>D2D-01</cp:lastModifiedBy>
  <cp:revision>8</cp:revision>
  <dcterms:created xsi:type="dcterms:W3CDTF">2026-02-26T06:58:26Z</dcterms:created>
  <dcterms:modified xsi:type="dcterms:W3CDTF">2026-03-05T02:51:12Z</dcterms:modified>
</cp:coreProperties>
</file>